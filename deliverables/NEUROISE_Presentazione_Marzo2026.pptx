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NEURØISE Playground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A6FA5"/>
                </a:solidFill>
                <a:latin typeface="Calibri"/>
              </a:defRPr>
            </a:pPr>
            <a:r>
              <a:t>Stato Avanzamento — Marzo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t>Collaborazione di Ricerca — Università di Pisa / NO NOISE S.r.l.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Prof. Tiberio Uricchio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  <a:latin typeface="Calibri"/>
              </a:defRPr>
            </a:pPr>
            <a:r>
              <a:t>1.  Contesto e Obiettivi del Progetto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  <a:latin typeface="Calibri"/>
              </a:defRPr>
            </a:pPr>
            <a:r>
              <a:t>2.  Architettura del Sistema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  <a:latin typeface="Calibri"/>
              </a:defRPr>
            </a:pPr>
            <a:r>
              <a:t>3.  Risultati Sperimentali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  <a:latin typeface="Calibri"/>
              </a:defRPr>
            </a:pPr>
            <a:r>
              <a:t>4.  Servizio di Generazione Video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  <a:latin typeface="Calibri"/>
              </a:defRPr>
            </a:pPr>
            <a:r>
              <a:t>5.  Stato Deliverables Contrattuali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  <a:latin typeface="Calibri"/>
              </a:defRPr>
            </a:pPr>
            <a:r>
              <a:t>6.  Opportunità di Pubblicazione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  <a:latin typeface="Calibri"/>
              </a:defRPr>
            </a:pPr>
            <a:r>
              <a:t>7.  Prossimi Passi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Contesto del Progetto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Contratto: Collaborazione di Ricerca (19 Dic 2025)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Durata: 3 mesi (scadenza ~19 Marzo 2026)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Oggetto: MVP motore di storytelling intelligente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Ambito: Esperienze personalizzate luxury / yachting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Framework v2 → Cognitive Sandwich model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Profilazione psicologica → Generazione video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3 archetipi: Sage / Rebel / Lover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30 profili ufficiali di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846320"/>
            <a:ext cx="10515600" cy="4572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6FA5"/>
                </a:solidFill>
                <a:latin typeface="Calibri"/>
              </a:defRPr>
            </a:pPr>
            <a:r>
              <a:t>Dic–Gen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Analisi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6FA5"/>
                </a:solidFill>
                <a:latin typeface="Calibri"/>
              </a:defRPr>
            </a:pPr>
            <a:r>
              <a:t>Febbraio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Implementazione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6FA5"/>
                </a:solidFill>
                <a:latin typeface="Calibri"/>
              </a:defRPr>
            </a:pPr>
            <a:r>
              <a:t>Marzo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937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Esperimenti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Architettura — Cognitive Sandwich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463040"/>
            <a:ext cx="9144000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INPUT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Profilo utente (archetipo + musica + thread)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560320"/>
            <a:ext cx="9144000" cy="82296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606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DECISION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Director LLM → video triptych + OST 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657600"/>
            <a:ext cx="9144000" cy="822960"/>
          </a:xfrm>
          <a:prstGeom prst="rect">
            <a:avLst/>
          </a:prstGeom>
          <a:solidFill>
            <a:srgbClr val="2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CONTROL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PolicyGate → 8 regole, RED/YELLOW/GREEN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75488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PRODUCTION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800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Video Gen (Wan2.2) + Music 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429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526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Calibri"/>
              </a:defRPr>
            </a:pPr>
            <a:r>
              <a:t>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Pipeline del Playground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1828800" cy="2286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Profile 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C3C7"/>
                </a:solidFill>
                <a:latin typeface="Calibri"/>
              </a:defRPr>
            </a:pPr>
            <a:r>
              <a:t>30 profili</a:t>
            </a:r>
            <a:br/>
            <a:r>
              <a:t>3 archetipi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286000"/>
            <a:ext cx="1828800" cy="2286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Director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C3C7"/>
                </a:solidFill>
                <a:latin typeface="Calibri"/>
              </a:defRPr>
            </a:pPr>
            <a:r>
              <a:t>LLaMA 3.3:70b</a:t>
            </a:r>
            <a:br/>
            <a:r>
              <a:t>Qwen3:32b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286000"/>
            <a:ext cx="1828800" cy="2286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PolicyGate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C3C7"/>
                </a:solidFill>
                <a:latin typeface="Calibri"/>
              </a:defRPr>
            </a:pPr>
            <a:r>
              <a:t>8 regole</a:t>
            </a:r>
            <a:br/>
            <a:r>
              <a:t>RED/YELLOW/GREEN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286000"/>
            <a:ext cx="1828800" cy="2286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Metriche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C3C7"/>
                </a:solidFill>
                <a:latin typeface="Calibri"/>
              </a:defRPr>
            </a:pPr>
            <a:r>
              <a:t>13 dimensioni</a:t>
            </a:r>
            <a:br/>
            <a:r>
              <a:t>automatic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F8C8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2286000"/>
            <a:ext cx="1828800" cy="2286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Video 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10896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DC3C7"/>
                </a:solidFill>
                <a:latin typeface="Calibri"/>
              </a:defRPr>
            </a:pPr>
            <a:r>
              <a:t>Wan2.2</a:t>
            </a:r>
            <a:br/>
            <a:r>
              <a:t>TurboWan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Director LLM — Creative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2004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SAGE — Il Saggio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Contemplativo, minimale</a:t>
            </a:r>
            <a:br/>
            <a:r>
              <a:t>60-80 BPM</a:t>
            </a:r>
            <a:br/>
            <a:r>
              <a:t>Ambient, modern classical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371600"/>
            <a:ext cx="3200400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417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REBEL — Il Ribelle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94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Dinamico, audace</a:t>
            </a:r>
            <a:br/>
            <a:r>
              <a:t>120-140 BPM</a:t>
            </a:r>
            <a:br/>
            <a:r>
              <a:t>Electronic, breakbeat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371600"/>
            <a:ext cx="3200400" cy="6400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417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LOVER — L'Amante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Caldo, intimo</a:t>
            </a:r>
            <a:br/>
            <a:r>
              <a:t>70-90 BPM</a:t>
            </a:r>
            <a:br/>
            <a:r>
              <a:t>Acoustic, cinematic pop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3A5C"/>
                </a:solidFill>
                <a:latin typeface="Calibri"/>
              </a:defRPr>
            </a:pPr>
            <a:r>
              <a:t>Output: video_triptych (3 scene) + ost_prompt + metadata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• 3 scene narrative: START → EVOLVE → END</a:t>
            </a:r>
            <a:br/>
            <a:r>
              <a:t>• Prompt di produzione per text-to-video AI</a:t>
            </a:r>
            <a:br/>
            <a:r>
              <a:t>• Vincolo: esclusivamente marino/costiero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PolicyGate — 8 Regole di Validazione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406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Regola</a:t>
                      </a:r>
                    </a:p>
                  </a:txBody>
                  <a:tcPr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Descrizione</a:t>
                      </a:r>
                    </a:p>
                  </a:txBody>
                  <a:tcPr>
                    <a:solidFill>
                      <a:srgbClr val="2D3A5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Blacklist (urban, violence, forest...)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Warning terms (storm, person, logo...)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Marine vocabulary (≥5 termini)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Structure (3 scene, ost_prompt)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Scene sequence (start→evolve→end)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Archetype consistency (keyword density)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Prompt length (50-500 chars)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RED/YEL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BPM validation (presence + range)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3A5C"/>
                </a:solidFill>
                <a:latin typeface="Calibri"/>
              </a:defRPr>
            </a:pPr>
            <a:r>
              <a:t>Compliance baseline (LLaMA 70B):  Sage 80% GREEN  |  Rebel 20% GREEN  |  Lover 90% GREEN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Framework Metriche — 13 Dimensioni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560320" cy="54864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Strutturali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Schema Compliance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Role Sequence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Prompt Length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Pacing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371600"/>
            <a:ext cx="256032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Semantiche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Archetype Consistency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Story Thread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Lexical Fit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Marine Vocab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256032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Qualitative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Red Flag Score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Specificity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Cross-Scene Coh.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Narrative Coh.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371600"/>
            <a:ext cx="256032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417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LLM Judge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10312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Visual Clarity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Arch. Alignment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Emot. Resonance</a:t>
            </a:r>
          </a:p>
          <a:p>
            <a:pPr>
              <a:spcAft>
                <a:spcPts val="8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Marine Adh.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Aggregate Score = media aritmetica di tutte le 13 metriche normalizzate [0, 1]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Risultati — Baseline (LLaMA 3.3:70b)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4A6FA5"/>
                </a:solidFill>
                <a:latin typeface="Calibri"/>
              </a:defRPr>
            </a:pPr>
            <a:r>
              <a:t>0.775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F8C8D"/>
                </a:solidFill>
                <a:latin typeface="Calibri"/>
              </a:defRPr>
            </a:pPr>
            <a:r>
              <a:t>Aggregate Score (± 0.049)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30/30 profili completati (100% success)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30 profili × 13 metriche × 1 run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Default prompt pack, temperature 0.7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~4.9 tok/s su DGX Spark GB10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41148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0.805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CF0F1"/>
                </a:solidFill>
                <a:latin typeface="Calibri"/>
              </a:defRPr>
            </a:pPr>
            <a:r>
              <a:t>± 0.023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3108960"/>
            <a:ext cx="4114800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0.723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657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CF0F1"/>
                </a:solidFill>
                <a:latin typeface="Calibri"/>
              </a:defRPr>
            </a:pPr>
            <a:r>
              <a:t>± 0.047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4572000"/>
            <a:ext cx="4114800" cy="10972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663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0.798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120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CF0F1"/>
                </a:solidFill>
                <a:latin typeface="Calibri"/>
              </a:defRPr>
            </a:pPr>
            <a:r>
              <a:t>± 0.018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Risultati — Ablation Prompt Packs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Metrica</a:t>
                      </a:r>
                    </a:p>
                  </a:txBody>
                  <a:tcPr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Concise</a:t>
                      </a:r>
                    </a:p>
                  </a:txBody>
                  <a:tcPr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Detailed</a:t>
                      </a:r>
                    </a:p>
                  </a:txBody>
                  <a:tcPr>
                    <a:solidFill>
                      <a:srgbClr val="2D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Schema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Archetype 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0.770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Story Thread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0.711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Red Flag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0.835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Cross-Scene Coherence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0.140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Prompt Specificity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0.692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LLM Judge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0.958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Aggregate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0.744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Default vince sull'aggregato. Concise sacrifica coerenza narrativa (5.3×). Detailed migliora specificità ma aumenta varianza.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Risultati — Cross-Model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Metrica</a:t>
                      </a:r>
                    </a:p>
                  </a:txBody>
                  <a:tcPr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LLaMA 3.3:70B</a:t>
                      </a:r>
                    </a:p>
                  </a:txBody>
                  <a:tcPr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Qwen3:32B</a:t>
                      </a:r>
                    </a:p>
                  </a:txBody>
                  <a:tcPr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Effect (d)</a:t>
                      </a:r>
                    </a:p>
                  </a:txBody>
                  <a:tcPr>
                    <a:solidFill>
                      <a:srgbClr val="2D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+0.39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Archetype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+0.14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Thread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0.042*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+0.45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Red Flags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-0.09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Coherence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&lt;.001***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+5.46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Specificity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0.002**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-0.67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LLM Judge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&lt;.001***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-2.37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Aggregate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&lt;.001***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+0.73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LLaMA superiore nell'aggregato (p&lt;.001). Differenza critica: cross-scene coherence (d=5.46). Qwen eccelle in specificità e self-eval.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Risultati — Analisi per Archetipo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Metrica</a:t>
                      </a:r>
                    </a:p>
                  </a:txBody>
                  <a:tcPr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Sage</a:t>
                      </a:r>
                    </a:p>
                  </a:txBody>
                  <a:tcPr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Rebel</a:t>
                      </a:r>
                    </a:p>
                  </a:txBody>
                  <a:tcPr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Lover</a:t>
                      </a:r>
                    </a:p>
                  </a:txBody>
                  <a:tcPr>
                    <a:solidFill>
                      <a:srgbClr val="2D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Archetype 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0.867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Story Thread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Red Flag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0.775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Cross-Scene Coherence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0.654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Prompt Specificity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0.485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Pacing Progression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0.924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Aggregate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0.798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Rebel: archetype consistency 0.589 (vs Sage 0.911) — 60% RED violations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Sage: miglior aggregato (0.805) e specificità (0.752)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Lover: miglior story thread (0.900) e coerenza (0.654)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Generazione Video — Wan2.2 / TurboWan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Microservizio FastAPI containerizzato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Due pipeline: Wan2.2 (qualità) / TurboWan (velocità)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Hardware: DGX Spark GB10 (Blackwell GPU)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121.7 GB unified memory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Generazione batch per triptych (3 clip/profilo)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  <a:latin typeface="Calibri"/>
              </a:defRPr>
            </a:pPr>
            <a:r>
              <a:t>Risoluzione configurabile, 5-10 sec per clip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1828800"/>
            <a:ext cx="1188720" cy="2286000"/>
          </a:xfrm>
          <a:prstGeom prst="rect">
            <a:avLst/>
          </a:prstGeom>
          <a:solidFill>
            <a:srgbClr val="2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0" y="27432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1828800"/>
            <a:ext cx="1188720" cy="2286000"/>
          </a:xfrm>
          <a:prstGeom prst="rect">
            <a:avLst/>
          </a:prstGeom>
          <a:solidFill>
            <a:srgbClr val="2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27432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EVOLVE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0" y="1828800"/>
            <a:ext cx="1188720" cy="2286000"/>
          </a:xfrm>
          <a:prstGeom prst="rect">
            <a:avLst/>
          </a:prstGeom>
          <a:solidFill>
            <a:srgbClr val="2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0" y="27432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Video Triptych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Deliverables Contrattuali — Stato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058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Deliverable</a:t>
                      </a:r>
                    </a:p>
                  </a:txBody>
                  <a:tcPr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Descrizione</a:t>
                      </a:r>
                    </a:p>
                  </a:txBody>
                  <a:tcPr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Stato</a:t>
                      </a:r>
                    </a:p>
                  </a:txBody>
                  <a:tcPr>
                    <a:solidFill>
                      <a:srgbClr val="2D3A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Documento di Analisi — Report architettura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Completato ✓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Software Playground — MVP funzionante (v0.2.0)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Completato ✓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Relazione Finale — Risultati e sviluppi futuri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In corso (draft)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Calibri"/>
              </a:defRPr>
            </a:pPr>
            <a:r>
              <a:t>• D1 e D2 completati nei termini</a:t>
            </a:r>
            <a:br/>
            <a:r>
              <a:t>• D3 in fase di finalizzazione con risultati sperimentali completi</a:t>
            </a:r>
            <a:br/>
            <a:r>
              <a:t>• Tutti i deliverables saranno consegnati entro la scadenza contrattuale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Opportunità di Pubblicazione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6FA5"/>
                </a:solidFill>
                <a:latin typeface="Calibri"/>
              </a:defRPr>
            </a:pPr>
            <a:r>
              <a:t>ACM Multimedia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Conferenza di riferimento per multimedia intelligente (Rank A*)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Deadline: ~Aprile 2026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Topic: AI-driven personalized storytelling for luxury experiences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Contributi: architettura, ablation study, cross-model evaluation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Richiesta: autorizzazione alla pubblicazione congiunta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Università di Pisa + NO NOISE S.r.l.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Prossimi Passi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6FA5"/>
                </a:solidFill>
                <a:latin typeface="Calibri"/>
              </a:defRPr>
            </a:pPr>
            <a:r>
              <a:t>Immediati (Marzo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Completamento e consegna D3 — Relazione Finale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Esperimenti addizionali (cross-model ampliato)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Finalizzazione framework valutazione umana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6FA5"/>
                </a:solidFill>
                <a:latin typeface="Calibri"/>
              </a:defRPr>
            </a:pPr>
            <a:r>
              <a:t>Breve Termine (Aprile–Maggio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20439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Draft paper ACM MM 2026 (previa autorizzazione)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Campagna valutazione umana (5 dimensioni Likert)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Ottimizzazione video generation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7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6FA5"/>
                </a:solidFill>
                <a:latin typeface="Calibri"/>
              </a:defRPr>
            </a:pPr>
            <a:r>
              <a:t>Medio Termine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78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NeedsProfiler Agent (profilazione avanzata Big Five)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Archivio narrativo (Summarizer + Memory Store)</a:t>
            </a:r>
          </a:p>
          <a:p>
            <a:pPr>
              <a:spcAft>
                <a:spcPts val="400"/>
              </a:spcAft>
              <a:defRPr sz="1500">
                <a:solidFill>
                  <a:srgbClr val="2C3E50"/>
                </a:solidFill>
                <a:latin typeface="Calibri"/>
              </a:defRPr>
            </a:pPr>
            <a:r>
              <a:t>Deployment architecture per scenario on-yacht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